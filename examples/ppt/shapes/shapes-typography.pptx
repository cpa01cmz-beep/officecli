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d8c581fa77264a71" /><Relationship Type="http://schemas.openxmlformats.org/package/2006/relationships/metadata/core-properties" Target="/docProps/core.xml" Id="R809d5f692b9342cc" /><Relationship Type="http://schemas.openxmlformats.org/officeDocument/2006/relationships/extended-properties" Target="/docProps/app.xml" Id="R1226561ab66d494b" /><Relationship Type="http://schemas.openxmlformats.org/officeDocument/2006/relationships/custom-properties" Target="/docProps/custom.xml" Id="R8016a35c273846e5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581bb09194b847e3"/>
    <p:sldId id="257" r:id="Rd212a1199b47454b"/>
    <p:sldId id="258" r:id="Rb3fb7321dbbb4cc9"/>
    <p:sldId id="259" r:id="Rb6dc1d599c5f434e"/>
    <p:sldId id="260" r:id="R00ca9e016eb54da6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581bb09194b847e3" /><Relationship Type="http://schemas.openxmlformats.org/officeDocument/2006/relationships/slide" Target="/ppt/slides/slide2.xml" Id="Rd212a1199b47454b" /><Relationship Type="http://schemas.openxmlformats.org/officeDocument/2006/relationships/slide" Target="/ppt/slides/slide3.xml" Id="Rb3fb7321dbbb4cc9" /><Relationship Type="http://schemas.openxmlformats.org/officeDocument/2006/relationships/slide" Target="/ppt/slides/slide4.xml" Id="Rb6dc1d599c5f434e" /><Relationship Type="http://schemas.openxmlformats.org/officeDocument/2006/relationships/slide" Target="/ppt/slides/slide5.xml" Id="R00ca9e016eb54da6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5d6c5f9aa44d6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15de08efff4c9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1124311cb541b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898f55c9124d7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af9862008c4397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4c991d1bcc274945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ee8dd6f1a14d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07b136f29f40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c0e31ce97a4d6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75383fa201462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6c272643d845a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457200" y="274320"/>
            <a:ext cx="1097280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/>
              <a:t>lineSpacing / spaceBefore / spaceAfter</a:t>
            </a:r>
          </a:p>
        </p:txBody>
      </p:sp>
      <p:sp>
        <p:nvSpPr>
          <p:cNvPr id="100001" name="TextBox 2"/>
          <p:cNvSpPr txBox="1"/>
          <p:nvPr/>
        </p:nvSpPr>
        <p:spPr>
          <a:xfrm xmlns:a="http://schemas.openxmlformats.org/drawingml/2006/main">
            <a:off x="457200" y="1097280"/>
            <a:ext cx="36576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AE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/>
              <a:t>Lorem ipsum dolor sit amet, consectetur adipiscing elit. Sed do eiusmod tempor incididunt.</a:t>
            </a:r>
          </a:p>
          <a:p xmlns:a="http://schemas.openxmlformats.org/drawingml/2006/main">
            <a:r>
              <a:rPr lang="en-US"/>
              <a:t>Lorem ipsum dolor sit amet, consectetur adipiscing elit. Sed do eiusmod tempor incididunt.</a:t>
            </a:r>
          </a:p>
          <a:p xmlns:a="http://schemas.openxmlformats.org/drawingml/2006/main">
            <a:r>
              <a:rPr lang="en-US"/>
              <a:t>Lorem ipsum dolor sit amet, consectetur adipiscing elit. Sed do eiusmod tempor incididunt.</a:t>
            </a:r>
          </a:p>
        </p:txBody>
      </p:sp>
      <p:sp>
        <p:nvSpPr>
          <p:cNvPr id="100002" name="TextBox 3"/>
          <p:cNvSpPr txBox="1"/>
          <p:nvPr/>
        </p:nvSpPr>
        <p:spPr>
          <a:xfrm xmlns:a="http://schemas.openxmlformats.org/drawingml/2006/main">
            <a:off x="457200" y="4389120"/>
            <a:ext cx="36576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i="1"/>
              <a:t>default (no spacing props set)</a:t>
            </a:r>
          </a:p>
        </p:txBody>
      </p:sp>
      <p:sp>
        <p:nvSpPr>
          <p:cNvPr id="100003" name="TextBox 4"/>
          <p:cNvSpPr txBox="1"/>
          <p:nvPr/>
        </p:nvSpPr>
        <p:spPr>
          <a:xfrm xmlns:a="http://schemas.openxmlformats.org/drawingml/2006/main">
            <a:off x="4572000" y="1097280"/>
            <a:ext cx="36576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AD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</a:pPr>
            <a:r>
              <a:rPr lang="en-US" sz="1400"/>
              <a:t>Lorem ipsum dolor sit amet, consectetur adipiscing elit. Sed do eiusmod tempor incididunt.</a:t>
            </a:r>
          </a:p>
          <a:p xmlns:a="http://schemas.openxmlformats.org/drawingml/2006/main">
            <a:pPr>
              <a:lnSpc>
                <a:spcPct val="150000"/>
              </a:lnSpc>
            </a:pPr>
            <a:r>
              <a:rPr lang="en-US"/>
              <a:t>Lorem ipsum dolor sit amet, consectetur adipiscing elit. Sed do eiusmod tempor incididunt.</a:t>
            </a:r>
          </a:p>
          <a:p xmlns:a="http://schemas.openxmlformats.org/drawingml/2006/main">
            <a:pPr>
              <a:lnSpc>
                <a:spcPct val="150000"/>
              </a:lnSpc>
            </a:pPr>
            <a:r>
              <a:rPr lang="en-US"/>
              <a:t>Lorem ipsum dolor sit amet, consectetur adipiscing elit. Sed do eiusmod tempor incididunt.</a:t>
            </a:r>
          </a:p>
        </p:txBody>
      </p:sp>
      <p:sp>
        <p:nvSpPr>
          <p:cNvPr id="100004" name="TextBox 5"/>
          <p:cNvSpPr txBox="1"/>
          <p:nvPr/>
        </p:nvSpPr>
        <p:spPr>
          <a:xfrm xmlns:a="http://schemas.openxmlformats.org/drawingml/2006/main">
            <a:off x="4572000" y="4389120"/>
            <a:ext cx="36576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i="1"/>
              <a:t>lineSpacing=1.5x  (multiplier; also accepts 150% / 18pt)</a:t>
            </a:r>
          </a:p>
        </p:txBody>
      </p:sp>
      <p:sp>
        <p:nvSpPr>
          <p:cNvPr id="100005" name="TextBox 6"/>
          <p:cNvSpPr txBox="1"/>
          <p:nvPr/>
        </p:nvSpPr>
        <p:spPr>
          <a:xfrm xmlns:a="http://schemas.openxmlformats.org/drawingml/2006/main">
            <a:off x="8686800" y="1097280"/>
            <a:ext cx="36576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26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1200"/>
              </a:spcBef>
              <a:spcAft>
                <a:spcPts val="1200"/>
              </a:spcAft>
            </a:pPr>
            <a:r>
              <a:rPr lang="en-US" sz="1400"/>
              <a:t>Lorem ipsum dolor sit amet, consectetur adipiscing elit. Sed do eiusmod tempor incididunt.</a:t>
            </a:r>
          </a:p>
          <a:p xmlns:a="http://schemas.openxmlformats.org/drawingml/2006/main">
            <a:pPr>
              <a:spcBef>
                <a:spcPts val="1200"/>
              </a:spcBef>
              <a:spcAft>
                <a:spcPts val="1200"/>
              </a:spcAft>
            </a:pPr>
            <a:r>
              <a:rPr lang="en-US"/>
              <a:t>Lorem ipsum dolor sit amet, consectetur adipiscing elit. Sed do eiusmod tempor incididunt.</a:t>
            </a:r>
          </a:p>
          <a:p xmlns:a="http://schemas.openxmlformats.org/drawingml/2006/main">
            <a:pPr>
              <a:spcBef>
                <a:spcPts val="1200"/>
              </a:spcBef>
              <a:spcAft>
                <a:spcPts val="1200"/>
              </a:spcAft>
            </a:pPr>
            <a:r>
              <a:rPr lang="en-US"/>
              <a:t>Lorem ipsum dolor sit amet, consectetur adipiscing elit. Sed do eiusmod tempor incididunt.</a:t>
            </a:r>
          </a:p>
        </p:txBody>
      </p:sp>
      <p:sp>
        <p:nvSpPr>
          <p:cNvPr id="100006" name="TextBox 7"/>
          <p:cNvSpPr txBox="1"/>
          <p:nvPr/>
        </p:nvSpPr>
        <p:spPr>
          <a:xfrm xmlns:a="http://schemas.openxmlformats.org/drawingml/2006/main">
            <a:off x="8686800" y="4389120"/>
            <a:ext cx="36576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i="1"/>
              <a:t>spaceBefore=12pt  spaceAfter=12pt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7" name="TextBox 1"/>
          <p:cNvSpPr txBox="1"/>
          <p:nvPr/>
        </p:nvSpPr>
        <p:spPr>
          <a:xfrm xmlns:a="http://schemas.openxmlformats.org/drawingml/2006/main">
            <a:off x="457200" y="274320"/>
            <a:ext cx="1097280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/>
              <a:t>spacing / kern / cap</a:t>
            </a:r>
          </a:p>
        </p:txBody>
      </p:sp>
      <p:sp>
        <p:nvSpPr>
          <p:cNvPr id="100008" name="TextBox 2"/>
          <p:cNvSpPr txBox="1"/>
          <p:nvPr/>
        </p:nvSpPr>
        <p:spPr>
          <a:xfrm xmlns:a="http://schemas.openxmlformats.org/drawingml/2006/main">
            <a:off x="457200" y="1371600"/>
            <a:ext cx="11887200" cy="7315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/>
              <a:t>Tight Loose Spacing TYPOGRAPHY  (default)</a:t>
            </a:r>
          </a:p>
        </p:txBody>
      </p:sp>
      <p:sp>
        <p:nvSpPr>
          <p:cNvPr id="100009" name="TextBox 3"/>
          <p:cNvSpPr txBox="1"/>
          <p:nvPr/>
        </p:nvSpPr>
        <p:spPr>
          <a:xfrm xmlns:a="http://schemas.openxmlformats.org/drawingml/2006/main">
            <a:off x="457200" y="2103120"/>
            <a:ext cx="11887200" cy="7315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 spc="-5000"/>
              <a:t>Tight Loose Spacing TYPOGRAPHY  (spacing=-50)</a:t>
            </a:r>
          </a:p>
        </p:txBody>
      </p:sp>
      <p:sp>
        <p:nvSpPr>
          <p:cNvPr id="100010" name="TextBox 4"/>
          <p:cNvSpPr txBox="1"/>
          <p:nvPr/>
        </p:nvSpPr>
        <p:spPr>
          <a:xfrm xmlns:a="http://schemas.openxmlformats.org/drawingml/2006/main">
            <a:off x="457200" y="2834640"/>
            <a:ext cx="11887200" cy="7315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 spc="20000"/>
              <a:t>Tight Loose Spacing TYPOGRAPHY  (spacing=200)</a:t>
            </a:r>
          </a:p>
        </p:txBody>
      </p:sp>
      <p:sp>
        <p:nvSpPr>
          <p:cNvPr id="100011" name="TextBox 5"/>
          <p:cNvSpPr txBox="1"/>
          <p:nvPr/>
        </p:nvSpPr>
        <p:spPr>
          <a:xfrm xmlns:a="http://schemas.openxmlformats.org/drawingml/2006/main">
            <a:off x="457200" y="3566160"/>
            <a:ext cx="11887200" cy="7315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 spc="50000"/>
              <a:t>Tight Loose Spacing TYPOGRAPHY  (spacing=500)</a:t>
            </a:r>
          </a:p>
        </p:txBody>
      </p:sp>
      <p:sp>
        <p:nvSpPr>
          <p:cNvPr id="100012" name="TextBox 6"/>
          <p:cNvSpPr txBox="1"/>
          <p:nvPr/>
        </p:nvSpPr>
        <p:spPr>
          <a:xfrm xmlns:a="http://schemas.openxmlformats.org/drawingml/2006/main">
            <a:off x="457200" y="4572000"/>
            <a:ext cx="5486400" cy="7315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kern="1"/>
              <a:t>AVATAR  Yawning  (kern=1)  — kern on from 0.01pt</a:t>
            </a:r>
          </a:p>
        </p:txBody>
      </p:sp>
      <p:sp>
        <p:nvSpPr>
          <p:cNvPr id="100013" name="TextBox 7"/>
          <p:cNvSpPr txBox="1"/>
          <p:nvPr/>
        </p:nvSpPr>
        <p:spPr>
          <a:xfrm xmlns:a="http://schemas.openxmlformats.org/drawingml/2006/main">
            <a:off x="6400800" y="4572000"/>
            <a:ext cx="5486400" cy="7315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kern="0"/>
              <a:t>AVATAR  Yawning  (kern=0)  — kern OFF</a:t>
            </a:r>
          </a:p>
        </p:txBody>
      </p:sp>
      <p:sp>
        <p:nvSpPr>
          <p:cNvPr id="100014" name="TextBox 8"/>
          <p:cNvSpPr txBox="1"/>
          <p:nvPr/>
        </p:nvSpPr>
        <p:spPr>
          <a:xfrm xmlns:a="http://schemas.openxmlformats.org/drawingml/2006/main">
            <a:off x="457200" y="5486400"/>
            <a:ext cx="3657600" cy="7315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cap="none"/>
              <a:t>cap=none — Default case</a:t>
            </a:r>
          </a:p>
        </p:txBody>
      </p:sp>
      <p:sp>
        <p:nvSpPr>
          <p:cNvPr id="100015" name="TextBox 9"/>
          <p:cNvSpPr txBox="1"/>
          <p:nvPr/>
        </p:nvSpPr>
        <p:spPr>
          <a:xfrm xmlns:a="http://schemas.openxmlformats.org/drawingml/2006/main">
            <a:off x="4297680" y="5486400"/>
            <a:ext cx="3657600" cy="7315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cap="small"/>
              <a:t>cap=small — Small caps</a:t>
            </a:r>
          </a:p>
        </p:txBody>
      </p:sp>
      <p:sp>
        <p:nvSpPr>
          <p:cNvPr id="100016" name="TextBox 10"/>
          <p:cNvSpPr txBox="1"/>
          <p:nvPr/>
        </p:nvSpPr>
        <p:spPr>
          <a:xfrm xmlns:a="http://schemas.openxmlformats.org/drawingml/2006/main">
            <a:off x="8138160" y="5486400"/>
            <a:ext cx="3657600" cy="7315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cap="all"/>
              <a:t>cap=all — All caps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17" name="TextBox 1"/>
          <p:cNvSpPr txBox="1"/>
          <p:nvPr/>
        </p:nvSpPr>
        <p:spPr>
          <a:xfrm xmlns:a="http://schemas.openxmlformats.org/drawingml/2006/main">
            <a:off x="457200" y="274320"/>
            <a:ext cx="1097280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/>
              <a:t>direction=rtl + font.cs (complex script)</a:t>
            </a:r>
          </a:p>
        </p:txBody>
      </p:sp>
      <p:sp>
        <p:nvSpPr>
          <p:cNvPr id="100018" name="TextBox 2"/>
          <p:cNvSpPr txBox="1"/>
          <p:nvPr/>
        </p:nvSpPr>
        <p:spPr>
          <a:xfrm xmlns:a="http://schemas.openxmlformats.org/drawingml/2006/main">
            <a:off x="457200" y="1371600"/>
            <a:ext cx="548640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AE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 b="1">
                <a:cs typeface="Arabic Typesetting"/>
              </a:rPr>
              <a:t>مرحبا بالعالم — 2026</a:t>
            </a:r>
          </a:p>
        </p:txBody>
      </p:sp>
      <p:sp>
        <p:nvSpPr>
          <p:cNvPr id="100019" name="TextBox 3"/>
          <p:cNvSpPr txBox="1"/>
          <p:nvPr/>
        </p:nvSpPr>
        <p:spPr>
          <a:xfrm xmlns:a="http://schemas.openxmlformats.org/drawingml/2006/main">
            <a:off x="457200" y="2560320"/>
            <a:ext cx="54864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i="1">
                <a:solidFill>
                  <a:srgbClr val="666666"/>
                </a:solidFill>
              </a:rPr>
              <a:t>direction=ltr (default)  +  font.cs="Arabic Typesetting"</a:t>
            </a:r>
          </a:p>
        </p:txBody>
      </p:sp>
      <p:sp>
        <p:nvSpPr>
          <p:cNvPr id="100020" name="TextBox 4"/>
          <p:cNvSpPr txBox="1"/>
          <p:nvPr/>
        </p:nvSpPr>
        <p:spPr>
          <a:xfrm xmlns:a="http://schemas.openxmlformats.org/drawingml/2006/main">
            <a:off x="6400800" y="1371600"/>
            <a:ext cx="548640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ADC"/>
          </a:solidFill>
        </p:spPr>
        <p:txBody>
          <a:bodyPr xmlns:a="http://schemas.openxmlformats.org/drawingml/2006/main" rtlCol="1"/>
          <a:lstStyle xmlns:a="http://schemas.openxmlformats.org/drawingml/2006/main"/>
          <a:p xmlns:a="http://schemas.openxmlformats.org/drawingml/2006/main">
            <a:pPr algn="r" rtl="1"/>
            <a:r>
              <a:rPr lang="en-US" sz="2400" b="1">
                <a:cs typeface="Arabic Typesetting"/>
              </a:rPr>
              <a:t>مرحبا بالعالم — 2026</a:t>
            </a:r>
          </a:p>
        </p:txBody>
      </p:sp>
      <p:sp>
        <p:nvSpPr>
          <p:cNvPr id="100021" name="TextBox 5"/>
          <p:cNvSpPr txBox="1"/>
          <p:nvPr/>
        </p:nvSpPr>
        <p:spPr>
          <a:xfrm xmlns:a="http://schemas.openxmlformats.org/drawingml/2006/main">
            <a:off x="6400800" y="2560320"/>
            <a:ext cx="54864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i="1">
                <a:solidFill>
                  <a:srgbClr val="666666"/>
                </a:solidFill>
              </a:rPr>
              <a:t>direction=rtl  +  align=right  (aliases: dir, rtl)</a:t>
            </a:r>
          </a:p>
        </p:txBody>
      </p:sp>
      <p:sp>
        <p:nvSpPr>
          <p:cNvPr id="100022" name="TextBox 6"/>
          <p:cNvSpPr txBox="1"/>
          <p:nvPr/>
        </p:nvSpPr>
        <p:spPr>
          <a:xfrm xmlns:a="http://schemas.openxmlformats.org/drawingml/2006/main">
            <a:off x="457200" y="3383280"/>
            <a:ext cx="11430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261"/>
          </a:solidFill>
        </p:spPr>
        <p:txBody>
          <a:bodyPr xmlns:a="http://schemas.openxmlformats.org/drawingml/2006/main" rtlCol="1"/>
          <a:lstStyle xmlns:a="http://schemas.openxmlformats.org/drawingml/2006/main"/>
          <a:p xmlns:a="http://schemas.openxmlformats.org/drawingml/2006/main">
            <a:pPr algn="r" rtl="1"/>
            <a:r>
              <a:rPr lang="en-US" sz="2400" b="1">
                <a:cs typeface="Arial Hebrew"/>
              </a:rPr>
              <a:t>שלום עולם — Hebrew demo</a:t>
            </a:r>
          </a:p>
        </p:txBody>
      </p:sp>
      <p:sp>
        <p:nvSpPr>
          <p:cNvPr id="100023" name="TextBox 7"/>
          <p:cNvSpPr txBox="1"/>
          <p:nvPr/>
        </p:nvSpPr>
        <p:spPr>
          <a:xfrm xmlns:a="http://schemas.openxmlformats.org/drawingml/2006/main">
            <a:off x="457200" y="4846320"/>
            <a:ext cx="114300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i="1">
                <a:solidFill>
                  <a:srgbClr val="666666"/>
                </a:solidFill>
              </a:rPr>
              <a:t>Same RTL machinery covers Hebrew, Urdu, Persian etc. — pick the appropriate font.cs face.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24" name="TextBox 1"/>
          <p:cNvSpPr txBox="1"/>
          <p:nvPr/>
        </p:nvSpPr>
        <p:spPr>
          <a:xfrm xmlns:a="http://schemas.openxmlformats.org/drawingml/2006/main">
            <a:off x="457200" y="274320"/>
            <a:ext cx="1097280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/>
              <a:t>font (bare) + lang BCP-47</a:t>
            </a:r>
          </a:p>
        </p:txBody>
      </p:sp>
      <p:sp>
        <p:nvSpPr>
          <p:cNvPr id="100025" name="TextBox 2"/>
          <p:cNvSpPr txBox="1"/>
          <p:nvPr/>
        </p:nvSpPr>
        <p:spPr>
          <a:xfrm xmlns:a="http://schemas.openxmlformats.org/drawingml/2006/main">
            <a:off x="457200" y="1371600"/>
            <a:ext cx="54864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AE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>
                <a:latin typeface="Times New Roman"/>
                <a:ea typeface="Times New Roman"/>
              </a:rPr>
              <a:t>Bare font sets Latin + EastAsian</a:t>
            </a:r>
          </a:p>
        </p:txBody>
      </p:sp>
      <p:sp>
        <p:nvSpPr>
          <p:cNvPr id="100026" name="TextBox 3"/>
          <p:cNvSpPr txBox="1"/>
          <p:nvPr/>
        </p:nvSpPr>
        <p:spPr>
          <a:xfrm xmlns:a="http://schemas.openxmlformats.org/drawingml/2006/main">
            <a:off x="457200" y="2834640"/>
            <a:ext cx="54864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i="1"/>
              <a:t>font="Times New Roman"  (sets a:latin AND a:ea)</a:t>
            </a:r>
          </a:p>
        </p:txBody>
      </p:sp>
      <p:sp>
        <p:nvSpPr>
          <p:cNvPr id="100027" name="TextBox 4"/>
          <p:cNvSpPr txBox="1"/>
          <p:nvPr/>
        </p:nvSpPr>
        <p:spPr>
          <a:xfrm xmlns:a="http://schemas.openxmlformats.org/drawingml/2006/main">
            <a:off x="6400800" y="1371600"/>
            <a:ext cx="54864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AD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>
                <a:latin typeface="Georgia"/>
                <a:ea typeface="Yu Mincho"/>
              </a:rPr>
              <a:t>Per-script gives finer control</a:t>
            </a:r>
          </a:p>
        </p:txBody>
      </p:sp>
      <p:sp>
        <p:nvSpPr>
          <p:cNvPr id="100028" name="TextBox 5"/>
          <p:cNvSpPr txBox="1"/>
          <p:nvPr/>
        </p:nvSpPr>
        <p:spPr>
          <a:xfrm xmlns:a="http://schemas.openxmlformats.org/drawingml/2006/main">
            <a:off x="6400800" y="2834640"/>
            <a:ext cx="54864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i="1"/>
              <a:t>font.latin=Georgia + font.ea="Yu Mincho"  (a:latin / a:ea)</a:t>
            </a:r>
          </a:p>
        </p:txBody>
      </p:sp>
      <p:sp>
        <p:nvSpPr>
          <p:cNvPr id="100029" name="TextBox 6"/>
          <p:cNvSpPr txBox="1"/>
          <p:nvPr/>
        </p:nvSpPr>
        <p:spPr>
          <a:xfrm xmlns:a="http://schemas.openxmlformats.org/drawingml/2006/main">
            <a:off x="457200" y="3474720"/>
            <a:ext cx="3657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26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GB" sz="1800"/>
              <a:t>Color or colour?</a:t>
            </a:r>
          </a:p>
        </p:txBody>
      </p:sp>
      <p:sp>
        <p:nvSpPr>
          <p:cNvPr id="100030" name="TextBox 7"/>
          <p:cNvSpPr txBox="1"/>
          <p:nvPr/>
        </p:nvSpPr>
        <p:spPr>
          <a:xfrm xmlns:a="http://schemas.openxmlformats.org/drawingml/2006/main">
            <a:off x="457200" y="4480560"/>
            <a:ext cx="36576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i="1"/>
              <a:t>lang=en-GB  (British English spellcheck)</a:t>
            </a:r>
          </a:p>
        </p:txBody>
      </p:sp>
      <p:sp>
        <p:nvSpPr>
          <p:cNvPr id="100031" name="TextBox 8"/>
          <p:cNvSpPr txBox="1"/>
          <p:nvPr/>
        </p:nvSpPr>
        <p:spPr>
          <a:xfrm xmlns:a="http://schemas.openxmlformats.org/drawingml/2006/main">
            <a:off x="4297680" y="3474720"/>
            <a:ext cx="3657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26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fr-FR" sz="1800"/>
              <a:t>Couleur en français</a:t>
            </a:r>
          </a:p>
        </p:txBody>
      </p:sp>
      <p:sp>
        <p:nvSpPr>
          <p:cNvPr id="100032" name="TextBox 9"/>
          <p:cNvSpPr txBox="1"/>
          <p:nvPr/>
        </p:nvSpPr>
        <p:spPr>
          <a:xfrm xmlns:a="http://schemas.openxmlformats.org/drawingml/2006/main">
            <a:off x="4297680" y="4480560"/>
            <a:ext cx="36576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i="1"/>
              <a:t>lang=fr-FR</a:t>
            </a:r>
          </a:p>
        </p:txBody>
      </p:sp>
      <p:sp>
        <p:nvSpPr>
          <p:cNvPr id="100033" name="TextBox 10"/>
          <p:cNvSpPr txBox="1"/>
          <p:nvPr/>
        </p:nvSpPr>
        <p:spPr>
          <a:xfrm xmlns:a="http://schemas.openxmlformats.org/drawingml/2006/main">
            <a:off x="8138160" y="3474720"/>
            <a:ext cx="3657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26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ja-JP" sz="1800">
                <a:ea typeface="Yu Mincho"/>
              </a:rPr>
              <a:t>日本語のテスト</a:t>
            </a:r>
          </a:p>
        </p:txBody>
      </p:sp>
      <p:sp>
        <p:nvSpPr>
          <p:cNvPr id="100034" name="TextBox 11"/>
          <p:cNvSpPr txBox="1"/>
          <p:nvPr/>
        </p:nvSpPr>
        <p:spPr>
          <a:xfrm xmlns:a="http://schemas.openxmlformats.org/drawingml/2006/main">
            <a:off x="8138160" y="4480560"/>
            <a:ext cx="36576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i="1"/>
              <a:t>lang=ja-JP + font.ea="Yu Mincho"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35" name="TextBox 1"/>
          <p:cNvSpPr txBox="1"/>
          <p:nvPr/>
        </p:nvSpPr>
        <p:spPr>
          <a:xfrm xmlns:a="http://schemas.openxmlformats.org/drawingml/2006/main">
            <a:off x="457200" y="274320"/>
            <a:ext cx="1188720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/>
              <a:t>strike / underline / valign / margin / list / lineOpacity / animation</a:t>
            </a:r>
          </a:p>
        </p:txBody>
      </p:sp>
      <p:sp>
        <p:nvSpPr>
          <p:cNvPr id="100036" name="TextBox 2"/>
          <p:cNvSpPr/>
          <p:nvPr/>
        </p:nvSpPr>
        <p:spPr>
          <a:xfrm xmlns:a="http://schemas.openxmlformats.org/drawingml/2006/main">
            <a:off x="457200" y="1097280"/>
            <a:ext cx="320040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A26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strike="sngStrike">
                <a:solidFill>
                  <a:srgbClr val="000000"/>
                </a:solidFill>
              </a:rPr>
              <a:t>strike=single</a:t>
            </a:r>
          </a:p>
        </p:txBody>
      </p:sp>
      <p:sp>
        <p:nvSpPr>
          <p:cNvPr id="100037" name="TextBox 3"/>
          <p:cNvSpPr/>
          <p:nvPr/>
        </p:nvSpPr>
        <p:spPr>
          <a:xfrm xmlns:a="http://schemas.openxmlformats.org/drawingml/2006/main">
            <a:off x="3931920" y="1097280"/>
            <a:ext cx="320040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A8DAD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u="sng">
                <a:solidFill>
                  <a:srgbClr val="000000"/>
                </a:solidFill>
              </a:rPr>
              <a:t>underline=single</a:t>
            </a:r>
          </a:p>
        </p:txBody>
      </p:sp>
      <p:sp>
        <p:nvSpPr>
          <p:cNvPr id="100038" name="TextBox 4"/>
          <p:cNvSpPr/>
          <p:nvPr/>
        </p:nvSpPr>
        <p:spPr>
          <a:xfrm xmlns:a="http://schemas.openxmlformats.org/drawingml/2006/main">
            <a:off x="457200" y="2377440"/>
            <a:ext cx="32004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AF6"/>
          </a:solidFill>
          <a:ln xmlns:a="http://schemas.openxmlformats.org/drawingml/2006/main" w="25400">
            <a:solidFill>
              <a:srgbClr val="4472C4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1600" b="1"/>
              <a:t>valign=top</a:t>
            </a:r>
          </a:p>
        </p:txBody>
      </p:sp>
      <p:sp>
        <p:nvSpPr>
          <p:cNvPr id="100039" name="TextBox 5"/>
          <p:cNvSpPr/>
          <p:nvPr/>
        </p:nvSpPr>
        <p:spPr>
          <a:xfrm xmlns:a="http://schemas.openxmlformats.org/drawingml/2006/main">
            <a:off x="3931920" y="2377440"/>
            <a:ext cx="32004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AF6"/>
          </a:solidFill>
          <a:ln xmlns:a="http://schemas.openxmlformats.org/drawingml/2006/main" w="25400">
            <a:solidFill>
              <a:srgbClr val="4472C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en-US" sz="1600" b="1"/>
              <a:t>valign=middle</a:t>
            </a:r>
          </a:p>
        </p:txBody>
      </p:sp>
      <p:sp>
        <p:nvSpPr>
          <p:cNvPr id="100040" name="TextBox 6"/>
          <p:cNvSpPr/>
          <p:nvPr/>
        </p:nvSpPr>
        <p:spPr>
          <a:xfrm xmlns:a="http://schemas.openxmlformats.org/drawingml/2006/main">
            <a:off x="7406640" y="2377440"/>
            <a:ext cx="32004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AF6"/>
          </a:solidFill>
          <a:ln xmlns:a="http://schemas.openxmlformats.org/drawingml/2006/main" w="25400">
            <a:solidFill>
              <a:srgbClr val="4472C4"/>
            </a:solidFill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r>
              <a:rPr lang="en-US" sz="1600" b="1"/>
              <a:t>valign=bottom</a:t>
            </a:r>
          </a:p>
        </p:txBody>
      </p:sp>
      <p:sp>
        <p:nvSpPr>
          <p:cNvPr id="100041" name="TextBox 7"/>
          <p:cNvSpPr/>
          <p:nvPr/>
        </p:nvSpPr>
        <p:spPr>
          <a:xfrm xmlns:a="http://schemas.openxmlformats.org/drawingml/2006/main">
            <a:off x="457200" y="4480560"/>
            <a:ext cx="4572000" cy="12801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AEE"/>
          </a:solidFill>
          <a:ln xmlns:a="http://schemas.openxmlformats.org/drawingml/2006/main" w="25400">
            <a:solidFill>
              <a:srgbClr val="2A9D8F"/>
            </a:solidFill>
          </a:ln>
        </p:spPr>
        <p:txBody>
          <a:bodyPr xmlns:a="http://schemas.openxmlformats.org/drawingml/2006/main" lIns="365760" tIns="365760" rIns="365760" bIns="365760"/>
          <a:lstStyle xmlns:a="http://schemas.openxmlformats.org/drawingml/2006/main"/>
          <a:p xmlns:a="http://schemas.openxmlformats.org/drawingml/2006/main">
            <a:r>
              <a:rPr lang="en-US" sz="1600"/>
              <a:t>margin=0.4in  — large inner padding</a:t>
            </a:r>
          </a:p>
        </p:txBody>
      </p:sp>
      <p:sp>
        <p:nvSpPr>
          <p:cNvPr id="100042" name="TextBox 8"/>
          <p:cNvSpPr/>
          <p:nvPr/>
        </p:nvSpPr>
        <p:spPr>
          <a:xfrm xmlns:a="http://schemas.openxmlformats.org/drawingml/2006/main">
            <a:off x="5486400" y="4480560"/>
            <a:ext cx="41148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26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457200" indent="-457200">
              <a:buChar char="•"/>
            </a:pPr>
            <a:r>
              <a:rPr lang="en-US" sz="1400">
                <a:solidFill>
                  <a:srgbClr val="000000"/>
                </a:solidFill>
              </a:rPr>
              <a:t>First item</a:t>
            </a:r>
          </a:p>
          <a:p xmlns:a="http://schemas.openxmlformats.org/drawingml/2006/main">
            <a:r>
              <a:rPr lang="en-US"/>
              <a:t>Second item</a:t>
            </a:r>
          </a:p>
          <a:p xmlns:a="http://schemas.openxmlformats.org/drawingml/2006/main">
            <a:r>
              <a:rPr lang="en-US"/>
              <a:t>Third item</a:t>
            </a:r>
          </a:p>
        </p:txBody>
      </p:sp>
      <p:sp>
        <p:nvSpPr>
          <p:cNvPr id="100043" name="TextBox 9"/>
          <p:cNvSpPr/>
          <p:nvPr/>
        </p:nvSpPr>
        <p:spPr>
          <a:xfrm xmlns:a="http://schemas.openxmlformats.org/drawingml/2006/main">
            <a:off x="457200" y="5943600"/>
            <a:ext cx="3200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76200">
            <a:solidFill>
              <a:srgbClr val="E63946">
                <a:alpha val="3500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lineOpacity=0.35</a:t>
            </a:r>
          </a:p>
        </p:txBody>
      </p:sp>
      <p:sp>
        <p:nvSpPr>
          <p:cNvPr id="100044" name="TextBox 10"/>
          <p:cNvSpPr/>
          <p:nvPr/>
        </p:nvSpPr>
        <p:spPr>
          <a:xfrm xmlns:a="http://schemas.openxmlformats.org/drawingml/2006/main">
            <a:off x="3931920" y="5943600"/>
            <a:ext cx="32004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6394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animation=fadeIn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00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04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OfficeCLI/1.0.102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2026-06-04T10:43:23Z</dcterms:created>
  <cp:lastModifiedBy>OfficeCLI</cp:lastModifiedBy>
  <dcterms:modified xsi:type="dcterms:W3CDTF">2026-06-04T10:43:23Z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1.0.102</vt:lpwstr>
  </op:property>
  <op:property fmtid="{D5CDD505-2E9C-101B-9397-08002B2CF9AE}" pid="3" name="OfficeCLI.LastModified">
    <vt:lpwstr xmlns:vt="http://schemas.openxmlformats.org/officeDocument/2006/docPropsVTypes">2026-06-04T10:43:32Z</vt:lpwstr>
  </op:property>
</op:Properties>
</file>